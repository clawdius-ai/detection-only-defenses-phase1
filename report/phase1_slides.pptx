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Detection-Only Defenses for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A1A1AA"/>
                </a:solidFill>
              </a:rPr>
              <a:t>Phase 1 — Adaptive Jailbreak Attacks (PAIR, TAP) vs. Detector-Only Defenses on AdvBench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1.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LLMs are aligned to refuse harmful or restricted content.</a:t>
            </a:r>
          </a:p>
          <a:p>
            <a:r>
              <a:rPr sz="1600">
                <a:solidFill>
                  <a:srgbClr val="E5E7EB"/>
                </a:solidFill>
              </a:rPr>
              <a:t>Adaptive jailbreak attacks iteratively refine prompts based on the target's outputs.</a:t>
            </a:r>
          </a:p>
          <a:p>
            <a:r>
              <a:rPr sz="1600">
                <a:solidFill>
                  <a:srgbClr val="E5E7EB"/>
                </a:solidFill>
              </a:rPr>
              <a:t>Detector-only defenses act only on routing (allow / block / refuse); they do not modify the prompt or intervene inside generation.</a:t>
            </a:r>
          </a:p>
          <a:p>
            <a:r>
              <a:rPr sz="1600">
                <a:solidFill>
                  <a:srgbClr val="E5E7EB"/>
                </a:solidFill>
              </a:rPr>
              <a:t>Goal: evaluate the limits of detector-only defenses against adaptive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2.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Dataset: AdvBench harmful_behaviors.csv (first 100; N=20 for cost-bounded first pass).</a:t>
            </a:r>
          </a:p>
          <a:p>
            <a:r>
              <a:rPr sz="1600">
                <a:solidFill>
                  <a:srgbClr val="E5E7EB"/>
                </a:solidFill>
              </a:rPr>
              <a:t>Attacker: Mixtral-8x22B-Instruct via OpenRouter (Vicuna-13B no longer served; open-weight substitute).</a:t>
            </a:r>
          </a:p>
          <a:p>
            <a:r>
              <a:rPr sz="1600">
                <a:solidFill>
                  <a:srgbClr val="E5E7EB"/>
                </a:solidFill>
              </a:rPr>
              <a:t>Target: GPT-4o (gpt-4o-2024-08-06) via OpenAI.</a:t>
            </a:r>
          </a:p>
          <a:p>
            <a:r>
              <a:rPr sz="1600">
                <a:solidFill>
                  <a:srgbClr val="E5E7EB"/>
                </a:solidFill>
              </a:rPr>
              <a:t>Judge: GPT-4o, 1–10 rubric, success threshold = 10.</a:t>
            </a:r>
          </a:p>
          <a:p>
            <a:r>
              <a:rPr sz="1600">
                <a:solidFill>
                  <a:srgbClr val="E5E7EB"/>
                </a:solidFill>
              </a:rPr>
              <a:t>Budgets: B ∈ {5, 10} target queries per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3. Adaptive Attack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PAIR (Chao et al., 2023): single attacker stream, JSON output {improvement, prompt}. B caps the refinement rounds.</a:t>
            </a:r>
          </a:p>
          <a:p>
            <a:r>
              <a:rPr sz="1600">
                <a:solidFill>
                  <a:srgbClr val="E5E7EB"/>
                </a:solidFill>
              </a:rPr>
              <a:t>TAP (Mehrotra et al., 2024): tree search with branching b, width w.</a:t>
            </a:r>
          </a:p>
          <a:p>
            <a:r>
              <a:rPr sz="1600">
                <a:solidFill>
                  <a:srgbClr val="E5E7EB"/>
                </a:solidFill>
              </a:rPr>
              <a:t>Pre-target pruning via on-topic check (off-topic candidates discarded).</a:t>
            </a:r>
          </a:p>
          <a:p>
            <a:r>
              <a:rPr sz="1600">
                <a:solidFill>
                  <a:srgbClr val="E5E7EB"/>
                </a:solidFill>
              </a:rPr>
              <a:t>Post-target pruning keeps top-w leaves by judge score.</a:t>
            </a:r>
          </a:p>
          <a:p>
            <a:r>
              <a:rPr sz="1600">
                <a:solidFill>
                  <a:srgbClr val="E5E7EB"/>
                </a:solidFill>
              </a:rPr>
              <a:t>B caps the total number of target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4. Detector-Only Defense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none — control baseline (no defense).</a:t>
            </a:r>
          </a:p>
          <a:p>
            <a:r>
              <a:rPr sz="1600">
                <a:solidFill>
                  <a:srgbClr val="E5E7EB"/>
                </a:solidFill>
              </a:rPr>
              <a:t>keyword — conservative AdvBench-derived blocklist (lower bound).</a:t>
            </a:r>
          </a:p>
          <a:p>
            <a:r>
              <a:rPr sz="1600">
                <a:solidFill>
                  <a:srgbClr val="E5E7EB"/>
                </a:solidFill>
              </a:rPr>
              <a:t>PromptGuard — meta-llama/Prompt-Guard-86M (HuggingFace).</a:t>
            </a:r>
          </a:p>
          <a:p>
            <a:r>
              <a:rPr sz="1600">
                <a:solidFill>
                  <a:srgbClr val="E5E7EB"/>
                </a:solidFill>
              </a:rPr>
              <a:t>Llama-Guard-3 — meta-llama/llama-guard-3-8b via OpenRouter (stronger competitive baseline).</a:t>
            </a:r>
          </a:p>
          <a:p>
            <a:r>
              <a:rPr sz="1600">
                <a:solidFill>
                  <a:srgbClr val="E5E7EB"/>
                </a:solidFill>
              </a:rPr>
              <a:t>Blocked prompts never reach the target; their judge score is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5.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AdvBench behavior → Attacker → candidate adversarial prompt.</a:t>
            </a:r>
          </a:p>
          <a:p>
            <a:r>
              <a:rPr sz="1600">
                <a:solidFill>
                  <a:srgbClr val="E5E7EB"/>
                </a:solidFill>
              </a:rPr>
              <a:t>Candidate → Detector → allow / block decision.</a:t>
            </a:r>
          </a:p>
          <a:p>
            <a:r>
              <a:rPr sz="1600">
                <a:solidFill>
                  <a:srgbClr val="E5E7EB"/>
                </a:solidFill>
              </a:rPr>
              <a:t>If allowed: candidate → Target LLM → response.</a:t>
            </a:r>
          </a:p>
          <a:p>
            <a:r>
              <a:rPr sz="1600">
                <a:solidFill>
                  <a:srgbClr val="E5E7EB"/>
                </a:solidFill>
              </a:rPr>
              <a:t>(Goal, candidate, response) → Judge LLM → integer score 1–10.</a:t>
            </a:r>
          </a:p>
          <a:p>
            <a:r>
              <a:rPr sz="1600">
                <a:solidFill>
                  <a:srgbClr val="E5E7EB"/>
                </a:solidFill>
              </a:rPr>
              <a:t>Score = 10 → session marked jailbroken; otherwise feedback loops into the attacker for the next round.</a:t>
            </a:r>
          </a:p>
          <a:p>
            <a:r>
              <a:rPr sz="1600">
                <a:solidFill>
                  <a:srgbClr val="E5E7EB"/>
                </a:solidFill>
              </a:rPr>
              <a:t>PAIR runs this loop as a linear chain; TAP runs it as a tree.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6. Trace Schema (per round)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session_id, attack, defense, budget, advbench_index, goal.</a:t>
            </a:r>
          </a:p>
          <a:p>
            <a:r>
              <a:rPr sz="1600">
                <a:solidFill>
                  <a:srgbClr val="E5E7EB"/>
                </a:solidFill>
              </a:rPr>
              <a:t>round, parent_round (linear for PAIR, tree edges for TAP).</a:t>
            </a:r>
          </a:p>
          <a:p>
            <a:r>
              <a:rPr sz="1600">
                <a:solidFill>
                  <a:srgbClr val="E5E7EB"/>
                </a:solidFill>
              </a:rPr>
              <a:t>candidate_prompt, detector_decision, detector_score.</a:t>
            </a:r>
          </a:p>
          <a:p>
            <a:r>
              <a:rPr sz="1600">
                <a:solidFill>
                  <a:srgbClr val="E5E7EB"/>
                </a:solidFill>
              </a:rPr>
              <a:t>target_response, judge_score, success flag, attacker reasoning.</a:t>
            </a:r>
          </a:p>
          <a:p>
            <a:r>
              <a:rPr sz="1600">
                <a:solidFill>
                  <a:srgbClr val="E5E7EB"/>
                </a:solidFill>
              </a:rPr>
              <a:t>Stored as append-only JSONL → full reproducibility.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7.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ASR — Attack Success Rate: fraction of behaviors jailbroken (judge score 10 in at least one round).</a:t>
            </a:r>
          </a:p>
          <a:p>
            <a:r>
              <a:rPr sz="1600">
                <a:solidFill>
                  <a:srgbClr val="E5E7EB"/>
                </a:solidFill>
              </a:rPr>
              <a:t>Block Rate — fraction of (session × round) prompts blocked by the detector.</a:t>
            </a:r>
          </a:p>
          <a:p>
            <a:r>
              <a:rPr sz="1600">
                <a:solidFill>
                  <a:srgbClr val="E5E7EB"/>
                </a:solidFill>
              </a:rPr>
              <a:t>Mean Max Judge Score — mean over behaviors of the maximum judge score observed per session.</a:t>
            </a:r>
          </a:p>
          <a:p>
            <a:r>
              <a:rPr sz="1600">
                <a:solidFill>
                  <a:srgbClr val="E5E7EB"/>
                </a:solidFill>
              </a:rPr>
              <a:t>Average Queries per Behavior — mean target queries used (early termination allowed on success).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8. Deliverables (this repository)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github.com/clawdius-ai/detection-only-defenses-phase1</a:t>
            </a:r>
          </a:p>
          <a:p>
            <a:r>
              <a:rPr sz="1600">
                <a:solidFill>
                  <a:srgbClr val="E5E7EB"/>
                </a:solidFill>
              </a:rPr>
              <a:t>src/ — PAIR + TAP + detectors + GPT-4o target/judge.</a:t>
            </a:r>
          </a:p>
          <a:p>
            <a:r>
              <a:rPr sz="1600">
                <a:solidFill>
                  <a:srgbClr val="E5E7EB"/>
                </a:solidFill>
              </a:rPr>
              <a:t>configs/ — 10 YAML cells covering the full experimental grid.</a:t>
            </a:r>
          </a:p>
          <a:p>
            <a:r>
              <a:rPr sz="1600">
                <a:solidFill>
                  <a:srgbClr val="E5E7EB"/>
                </a:solidFill>
              </a:rPr>
              <a:t>scripts/ — run_experiment.py · run_all.sh · aggregate_results.py.</a:t>
            </a:r>
          </a:p>
          <a:p>
            <a:r>
              <a:rPr sz="1600">
                <a:solidFill>
                  <a:srgbClr val="E5E7EB"/>
                </a:solidFill>
              </a:rPr>
              <a:t>backend/ — FastAPI trace API.</a:t>
            </a:r>
          </a:p>
          <a:p>
            <a:r>
              <a:rPr sz="1600">
                <a:solidFill>
                  <a:srgbClr val="E5E7EB"/>
                </a:solidFill>
              </a:rPr>
              <a:t>frontend/ — React + Vite + Tailwind + ReactFlow dashboard.</a:t>
            </a:r>
          </a:p>
          <a:p>
            <a:r>
              <a:rPr sz="1600">
                <a:solidFill>
                  <a:srgbClr val="E5E7EB"/>
                </a:solidFill>
              </a:rPr>
              <a:t>n8n/ — orchestration workflow (Vicuna-Mixtral / Llama-Guard / GPT-4o target+judge).</a:t>
            </a:r>
          </a:p>
          <a:p>
            <a:r>
              <a:rPr sz="1600">
                <a:solidFill>
                  <a:srgbClr val="E5E7EB"/>
                </a:solidFill>
              </a:rPr>
              <a:t>report/ — Phase 1 markdown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9. 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ASR bar chart per defense × attack × budget.</a:t>
            </a:r>
          </a:p>
          <a:p>
            <a:r>
              <a:rPr sz="1600">
                <a:solidFill>
                  <a:srgbClr val="E5E7EB"/>
                </a:solidFill>
              </a:rPr>
              <a:t>Session list with attack / defense filters.</a:t>
            </a:r>
          </a:p>
          <a:p>
            <a:r>
              <a:rPr sz="1600">
                <a:solidFill>
                  <a:srgbClr val="E5E7EB"/>
                </a:solidFill>
              </a:rPr>
              <a:t>Round-level attack trace graph:</a:t>
            </a:r>
          </a:p>
          <a:p>
            <a:r>
              <a:rPr sz="1600">
                <a:solidFill>
                  <a:srgbClr val="E5E7EB"/>
                </a:solidFill>
              </a:rPr>
              <a:t>   PAIR → linear chain.</a:t>
            </a:r>
          </a:p>
          <a:p>
            <a:r>
              <a:rPr sz="1600">
                <a:solidFill>
                  <a:srgbClr val="E5E7EB"/>
                </a:solidFill>
              </a:rPr>
              <a:t>   TAP  → branching tree (pre/post-target pruning visible).</a:t>
            </a:r>
          </a:p>
          <a:p>
            <a:r>
              <a:rPr sz="1600">
                <a:solidFill>
                  <a:srgbClr val="E5E7EB"/>
                </a:solidFill>
              </a:rPr>
              <a:t>Node color encodes judge score and detector decision.</a:t>
            </a:r>
          </a:p>
          <a:p>
            <a:r>
              <a:rPr sz="1600">
                <a:solidFill>
                  <a:srgbClr val="E5E7EB"/>
                </a:solidFill>
              </a:rPr>
              <a:t>Side panel surfaces candidate prompt, target response, attacker reasoning per 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10. Limitations &amp; Phase 2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Vicuna-13B substituted with Mixtral-8x22B-Instruct (deviation documented in report).</a:t>
            </a:r>
          </a:p>
          <a:p>
            <a:r>
              <a:rPr sz="1600">
                <a:solidFill>
                  <a:srgbClr val="E5E7EB"/>
                </a:solidFill>
              </a:rPr>
              <a:t>Phase 1 run on N=20 prompts for cost; pipeline scales to N=100 without code changes.</a:t>
            </a:r>
          </a:p>
          <a:p>
            <a:r>
              <a:rPr sz="1600">
                <a:solidFill>
                  <a:srgbClr val="E5E7EB"/>
                </a:solidFill>
              </a:rPr>
              <a:t>StrongREJECT and JBB-Behaviors loaders planned for Phase 2.</a:t>
            </a:r>
          </a:p>
          <a:p>
            <a:r>
              <a:rPr sz="1600">
                <a:solidFill>
                  <a:srgbClr val="E5E7EB"/>
                </a:solidFill>
              </a:rPr>
              <a:t>Phase 2 (Mitacs plan alignment): build interaction graphs from session traces, apply graph-based anomaly detection, ship visual analytics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AFAFA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>
                <a:solidFill>
                  <a:srgbClr val="E5E7EB"/>
                </a:solidFill>
              </a:rPr>
              <a:t>Chao et al. Jailbreaking Black Box Large Language Models in Twenty Queries. arXiv:2310.08419 (PAIR).</a:t>
            </a:r>
          </a:p>
          <a:p>
            <a:r>
              <a:rPr sz="1600">
                <a:solidFill>
                  <a:srgbClr val="E5E7EB"/>
                </a:solidFill>
              </a:rPr>
              <a:t>Mehrotra et al. Tree of Attacks: Jailbreaking Black-Box LLMs Automatically. arXiv:2312.02119 (TAP).</a:t>
            </a:r>
          </a:p>
          <a:p>
            <a:r>
              <a:rPr sz="1600">
                <a:solidFill>
                  <a:srgbClr val="E5E7EB"/>
                </a:solidFill>
              </a:rPr>
              <a:t>Zou et al. Universal and Transferable Adversarial Attacks on Aligned Language Models. arXiv:2307.15043 (AdvBench).</a:t>
            </a:r>
          </a:p>
          <a:p>
            <a:r>
              <a:rPr sz="1600">
                <a:solidFill>
                  <a:srgbClr val="E5E7EB"/>
                </a:solidFill>
              </a:rPr>
              <a:t>Inan et al. Llama Guard: LLM-based Input-Output Safeguard for Human-AI Conversations. arXiv:2312.06674.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