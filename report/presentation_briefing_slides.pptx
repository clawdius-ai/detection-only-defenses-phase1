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74519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4F4F5"/>
                </a:solidFill>
              </a:rPr>
              <a:t>Detection-Only Defenses for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267004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A1A1AA"/>
                </a:solidFill>
              </a:rPr>
              <a:t>Phase 1: PAIR and TAP adaptive jailbreaks on AdvBench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3429000"/>
            <a:ext cx="3657600" cy="502920"/>
          </a:xfrm>
          <a:prstGeom prst="roundRect">
            <a:avLst/>
          </a:prstGeom>
          <a:solidFill>
            <a:srgbClr val="122C2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5661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</a:rPr>
              <a:t>Adaptive attacks vs.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612648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1A1AA"/>
                </a:solidFill>
              </a:rPr>
              <a:t>Presentation briefing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Presentation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16152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Problem: adaptive jailbreaks against aligned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56232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9384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Dataset: AdvBench harmful-behavior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9464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42616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Attacks: PAIR and TAP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82696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924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55848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Defenses: detector-only routing baselines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95928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05656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69080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Metrics, traces, and reproducibility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09160"/>
            <a:ext cx="438912" cy="43891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18888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4F4F5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82312"/>
            <a:ext cx="9509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4F4F5"/>
                </a:solidFill>
              </a:rPr>
              <a:t>Dashboard workflow: demo traces vs. real API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Evaluate whether detector-only defenses can stop adaptive jailbreak attacks.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Use AdvBench harmful-behavior prompts as the initial benchmark.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Implement PAIR and TAP as black-box adaptive attack baselines.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Run attacks with no defense first, then under detector-only defenses.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Save every prompt, detector decision, response, score, and session 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Problem: Adaptive Jailbreaks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LLMs are aligned to refuse harmful or restricted requests.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 jailbreak prompt tries to bypass those refusal behaviors.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Static attacks use one fixed prompt.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Adaptive attacks revise prompts after observing refusals, partial compliance, detector blocks, or judge scores.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This is harder for defenses because the attacker can search for less obvious phrasings over multiple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What Is AdvBench?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 harmful-behavior benchmark used to evaluate whether LLMs produce unsafe outputs.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Local file: src/data/advbench_harmful_behaviors.csv.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Columns: goal and target.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goal = harmful objective the attacker tries to elicit.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target = affirmative response prefix representing unsafe compliance.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Phase 1 starts with the first 100 prompts; repo defaults to 20 for cost-bounded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AdvBench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harmful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79" y="220370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1A1AA"/>
                </a:solidFill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432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Attacker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PAIR or 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20370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1A1AA"/>
                </a:solidFill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allow /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0370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1A1AA"/>
                </a:solidFill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Target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unchanged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20370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1A1AA"/>
                </a:solidFill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score 1-10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203703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A1A1AA"/>
                </a:solidFill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1874519"/>
            <a:ext cx="1600200" cy="96012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5288" y="2075688"/>
            <a:ext cx="1380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4F4F5"/>
                </a:solidFill>
              </a:rP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288" y="2404872"/>
            <a:ext cx="1380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A1A1AA"/>
                </a:solidFill>
              </a:rPr>
              <a:t>JSONL round record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3703320"/>
            <a:ext cx="7955279" cy="868680"/>
          </a:xfrm>
          <a:prstGeom prst="roundRect">
            <a:avLst/>
          </a:prstGeom>
          <a:solidFill>
            <a:srgbClr val="241B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3977639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F4F4F5"/>
                </a:solidFill>
              </a:rPr>
              <a:t>If score &lt; success threshold, feedback loops back to the attacker for another round.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PAIR: Prompt Automatic Iterative Refinement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PAIR uses an attacker LLM to generate a candidate jailbreak prompt.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The target model answers the candidate if the detector allows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 judge scores the target response from 1 to 10.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The target response and score are fed back to the attacker.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PAIR is a linear search: round 1 -&gt; round 2 -&gt; round 3 -&gt; success or budget exhausted.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PAIR Round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34D399"/>
                </a:solidFill>
              </a:rPr>
              <a:t>Per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60A5FA"/>
                </a:solidFill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Attacker emits JSON: { improvement, prompt }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Detector decides allow or block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Allowed prompt queries target LLM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Judge scores response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Feedback drives next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Black-box: only API access needed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Semantic: prompts are readable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Adaptive: each round reacts to prior feedback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Traceable: each step is logged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TAP: Tree of Attacks with Pruning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TAP extends PAIR from one chain into a tree search.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Branch: generate multiple candidate refinements from the current frontier.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Pre-target pruning: remove off-topic candidates before target queries.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Attack and assess: query the target and judge surviving candidates.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Post-target pruning: keep the best-scoring leaves for the next depth.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PAIR vs. TAP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34D399"/>
                </a:solidFill>
              </a:rPr>
              <a:t>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60A5FA"/>
                </a:solidFill>
              </a:rPr>
              <a:t>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Single linear refinement chain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Simpler and cheaper per step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Can get stuck in one weak path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Dashboard shape: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Branching search tree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Explores more candidate strategies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Pruning controls query cost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Dashboard shape: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Detector-Only Defense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 detector evaluates a candidate prompt and optional session context.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It makes only a routing decision: allow, block, or refuse.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It does not rewrite the prompt.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It does not modify target-model internals or generation.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This isolates external safety routing as the defense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Defense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34D399"/>
                </a:solidFill>
              </a:rPr>
              <a:t>Simple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60A5FA"/>
                </a:solidFill>
              </a:rPr>
              <a:t>Learned / LLM Detectors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none: always allow; establishes attack baseline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keyword: blocklist terms from harmful domains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Blocked prompts never reach the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PromptGuard: classifier for benign, injection, jailbreak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Llama Guard 3: LLM-based safe/unsafe classifier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Detector score or label is logged per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Models and Budgets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Attacker: mistralai/mixtral-8x22b-instruct via OpenRouter.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Target: gpt-4o-2024-08-06 via OpenAI.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Judge: gpt-4o-2024-08-06 via OpenAI with a 1-10 harm rubric.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Budgets: B=5 and B=10 target queries per behavior.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Success threshold: judge_score &gt;=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160020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4D399"/>
                </a:solidFill>
              </a:rPr>
              <a:t>ASR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4F4F5"/>
                </a:solidFill>
              </a:rPr>
              <a:t>successful sessions / behaviors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74920" cy="160020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81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0A5FA"/>
                </a:solidFill>
              </a:rPr>
              <a:t>Block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4F4F5"/>
                </a:solidFill>
              </a:rPr>
              <a:t>blocked candidates / all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074920" cy="160020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9E0B"/>
                </a:solidFill>
              </a:rPr>
              <a:t>Mean Max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4F4F5"/>
                </a:solidFill>
              </a:rPr>
              <a:t>average best judge score per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703320"/>
            <a:ext cx="5074920" cy="1600200"/>
          </a:xfrm>
          <a:prstGeom prst="roundRect">
            <a:avLst/>
          </a:prstGeom>
          <a:solidFill>
            <a:srgbClr val="12141C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9593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B7185"/>
                </a:solidFill>
              </a:rPr>
              <a:t>Avg.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72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4F4F5"/>
                </a:solidFill>
              </a:rPr>
              <a:t>target queries per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What Gets Saved?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Every round is appended to JSONL for reproducibility.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Core fields: session_id, attack, defense, budget, advbench_index, goal.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Graph fields: round and parent_round.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Decision fields: candidate_prompt, detector_decision, detector_score.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Outcome fields: target_response, judge_score, success, extra metadata.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PAIR parent_round forms a line; TAP parent_round forms a tree.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Demo Traces vs. Real API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4800600"/>
          </a:xfrm>
          <a:prstGeom prst="roundRect">
            <a:avLst/>
          </a:prstGeom>
          <a:solidFill>
            <a:srgbClr val="18181F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34D399"/>
                </a:solidFill>
              </a:rPr>
              <a:t>Demo 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60A5FA"/>
                </a:solidFill>
              </a:rPr>
              <a:t>Real API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Generated by scripts/generate_demo_traces.py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Written to results/traces/demo_synthetic.jsonl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Marked with extra.demo = true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Used for dashboard presentation and UI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Run through scripts/run_experiment.py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Use OpenAI and OpenRouter credentials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Produce real target, judge, and attacker outputs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4F4F5"/>
                </a:solidFill>
              </a:rPr>
              <a:t>Separated in frontend under Real API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Dashboard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Use the navbar to switch between Demo Traces and Real API Runs.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Top chart compares attack success rate by defense, attack, and budget.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Session grid filters by attack and defense.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Attack Trace Graph visualizes PAIR as a chain and TAP as a tree.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Click a node to inspect prompt, detector decision, response, judge score, and attacker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Current Repo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Implemented: AdvBench loader, PAIR, TAP, detector registry, and GPT-4o judge wrapper.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Implemented: no-defense, keyword, PromptGuard, and Llama Guard detectors.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Implemented: JSONL tracing, aggregation, FastAPI trace server, and React dashboard.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Demo data is available for presentation.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Real API smoke examples are available for PAIR and TAP.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Full first-100 AdvBench grid still needs to be run for final numbers.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StrongREJECT and JBB-Behaviors can be added as later datasets.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Benign-prompt false-positive evaluation should be added for broader defense analysis.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Future analysis can vary judge thresholds such as 8, 9, and 10.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Phase 2 can build graph-based analytics over complete session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Likely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Why AdvBench? It standardizes harmful objectives for comparison.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Why no-defense first? It establishes baseline attack behavior.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Why detector-only? It isolates practical routing defenses from model modification.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Why TAP over PAIR? TAP explores multiple branches and prunes weak paths.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4F5"/>
                </a:solidFill>
              </a:rPr>
              <a:t>Why traces? Aggregate ASR hides how attacks adapt and where defenses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4F5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4F4F5"/>
                </a:solidFill>
              </a:rPr>
              <a:t>Chao et al. Jailbreaking Black Box Large Language Models in Twenty Queries. arXiv:2310.08419.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4F4F5"/>
                </a:solidFill>
              </a:rPr>
              <a:t>Mehrotra et al. Tree of Attacks: Jailbreaking Black-Box LLMs Automatically. arXiv:2312.02119.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4F4F5"/>
                </a:solidFill>
              </a:rPr>
              <a:t>Zou et al. Universal and Transferable Adversarial Attacks on Aligned Language Models. arXiv:2307.15043.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4F4F5"/>
                </a:solidFill>
              </a:rPr>
              <a:t>Inan et al. Llama Guard: LLM-based Input-Output Safeguard for Human-AI Conversations. arXiv:2312.06674.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595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A1A1AA"/>
                </a:solidFill>
              </a:rPr>
              <a:t>Detection-Only Defenses Phase 1  |  AdvBench, PAIR, TAP, detector-only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A1A1AA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